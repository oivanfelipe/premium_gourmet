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1051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Estratégico V4 · 2026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</a:t>
            </a:r>
            <a:endParaRPr lang="en-US" sz="7200" dirty="0"/>
          </a:p>
          <a:p>
            <a:pPr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Gourmet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358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Feijoada · Salvador, BA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474720"/>
            <a:ext cx="1280160" cy="3657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657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Unidades  ·  Tráfego Pago  ·  Crescimento Previsível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COBRIR HOJE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58368"/>
            <a:ext cx="8449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1261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261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Mercado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14630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concorrência e oportunidades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47472" y="19568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1956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da Empresa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157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digital e gargalos atuais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347472" y="2651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Estratégico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1 e 2 — metas e norte do projeto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" y="33467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33467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Vendas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35478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do lead à conversão no iFood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" y="4041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04672" y="4041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Mídia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4672" y="42428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Ads, plano por loja e CPL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1261872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212080" y="12618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 Retenção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14630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WA, reativação e projeção de retorno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754880" y="195681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1956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Fase 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215798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sucesso do projeto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754880" y="26517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2651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Projeções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28529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base mês a mês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334670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33467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212080" y="354787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de mídia e cenários de CPL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4754880" y="404164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212080" y="40416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212080" y="42428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semana a semana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Mercado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E OPORTUNIDADE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em Salvador cresce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acima da média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nacional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697480" cy="2194560"/>
          </a:xfrm>
          <a:prstGeom prst="rect">
            <a:avLst/>
          </a:prstGeom>
          <a:solidFill>
            <a:srgbClr val="F5E8E8"/>
          </a:solidFill>
          <a:ln w="12700">
            <a:solidFill>
              <a:srgbClr val="C41E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49961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SALVADOR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170078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+18%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139696"/>
            <a:ext cx="23682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anual em pedidos de delivery, impulsionado por apps e expansão de renda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389888"/>
            <a:ext cx="2697480" cy="2194560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2424" y="149961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 EM SALVADOR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392424" y="170078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1ª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392424" y="2139696"/>
            <a:ext cx="236829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em market share — qualquer estratégia passa pelo iFood na Fase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8192" y="1389888"/>
            <a:ext cx="2688336" cy="219456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2784" y="14996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FEIJOADA COMO CATEGORIA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17007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139696"/>
            <a:ext cx="235915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crescente por experiências gastronômicas regionais e autênticas via delivery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3730752"/>
            <a:ext cx="8449056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7673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Oportunidade: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feijoada premium ainda não tem um player dominante em digital em Salvador. Quem capturar a mente do consumidor primeiro com conteúdo de qualidade constrói barreira competitiva duradoura.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Mercado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DO NEGÓCIO HOJE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 do faturamento vem do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iFood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4114800" cy="1463040"/>
          </a:xfrm>
          <a:prstGeom prst="rect">
            <a:avLst/>
          </a:prstGeom>
          <a:solidFill>
            <a:srgbClr val="F5E8E8"/>
          </a:solidFill>
          <a:ln w="12700">
            <a:solidFill>
              <a:srgbClr val="C41E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49961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IFOOD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1700784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139696"/>
            <a:ext cx="3785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faturamento total — exposição alta à variação de comissão e algoritmo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81728" y="1389888"/>
            <a:ext cx="4114800" cy="146304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499616"/>
            <a:ext cx="3785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PRÓPRIO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00784"/>
            <a:ext cx="3785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2139696"/>
            <a:ext cx="378561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canal de entrega próprio, base de dados ou mecanismo de recompra direto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" y="301752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Comissão de 25–30% por pedido corroe a margem em cada transação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7472" y="3401568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dados do cliente — o iFood detém o relacionamento; a Premium Gourmet não conhece quem compra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472" y="3785616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Algoritmo como risco — qualquer mudança no ranking do iFood afeta receita imediata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47472" y="4169664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mecanismo de recompra — cada venda depende de o cliente abrir o app e encontrar a loja novamente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Diagnóstico da Empresa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DIGITAL — V1 PURO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Infraestrutura digital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inexistente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fora do iFood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14173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pixel de rastreamento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 — zero audiência para remarketing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203911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conta Meta Ads estruturada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campanhas nunca rodaram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47472" y="266090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base de leads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nenhum contato de clientes em posse da empresa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47472" y="328269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automação de mensagem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cada contato é manual e não escalável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417320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existente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sem estratégia, frequência ou call-to-action definido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039112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conteúdo de produto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apelo visual para mídia paga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66090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segmentação por loja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 7 unidades não possuem campanhas individualizadas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754880" y="3282696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de dados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sem CPL, CAC ou LTV calculados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4370832"/>
            <a:ext cx="8449056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44074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 real: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Gourmet parte do zero em digital. Isso é uma vantagem — não há vícios a corrigir. O plano foi desenhado para V1 puro: estruturar antes de escalar.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Diagnóstico da Empresa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 CRÍTICO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negócio não possui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dado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sobre seus clientes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697480" cy="1691640"/>
          </a:xfrm>
          <a:prstGeom prst="rect">
            <a:avLst/>
          </a:prstGeom>
          <a:solidFill>
            <a:srgbClr val="F5E8E8"/>
          </a:solidFill>
          <a:ln w="12700">
            <a:solidFill>
              <a:srgbClr val="C41E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49961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CLIENTE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170078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139696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nome, contato ou histórico de compra em posse da empresa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1389888"/>
            <a:ext cx="2697480" cy="169164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92424" y="1499616"/>
            <a:ext cx="2368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ATIVA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392424" y="1700784"/>
            <a:ext cx="2368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3392424" y="2139696"/>
            <a:ext cx="23682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canal para comunicar, engajar ou trazer clientes de volta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08192" y="1389888"/>
            <a:ext cx="2688336" cy="1691640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2784" y="1499616"/>
            <a:ext cx="23591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272784" y="1700784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Alta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6272784" y="2139696"/>
            <a:ext cx="2359152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captura dados próprios primeiro cria vantagem competitiva permanente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47472" y="3264408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dados, não há como personalizar comunicação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toda mensagem é genérica e menos eficiente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472" y="3666744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 dados, não há como calcular LTV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impossível saber quanto vale cada cliente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" y="4069080"/>
            <a:ext cx="8449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Fase 1 resolve exatamente isso: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cada lead capturado pelo formulário é um dado próprio da Premium Gourmet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Diagnóstico de Mercado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COMPETITIVA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concorrente domina o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ainda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1389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2450592" y="138988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DIGITAL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4005072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MÍDIA PAGA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5376672" y="1389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748272" y="1389888"/>
            <a:ext cx="2048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FRACO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47472" y="1627632"/>
            <a:ext cx="8449056" cy="22860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47472" y="17282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Feijoada da Bahia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50592" y="17282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005072" y="17282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dados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376672" y="17282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748272" y="1728216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frequência de conteúdo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194560"/>
            <a:ext cx="8449056" cy="1371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7472" y="224028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Tempero Baiano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450592" y="224028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005072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roda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376672" y="22402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Fraco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748272" y="2240280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indicação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2706624"/>
            <a:ext cx="8449056" cy="1371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7472" y="275234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Cozinha da Vovó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2450592" y="275234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005072" y="27523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Esporádico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376672" y="275234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748272" y="2752344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genérica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218688"/>
            <a:ext cx="8449056" cy="1371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47472" y="32644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 Genéricos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450592" y="32644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4005072" y="32644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roda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5376672" y="32644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Inexistente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48272" y="3264408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diferencial claro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7472" y="3730752"/>
            <a:ext cx="8449056" cy="1371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37" name="Shape 35"/>
          <p:cNvSpPr/>
          <p:nvPr/>
        </p:nvSpPr>
        <p:spPr>
          <a:xfrm>
            <a:off x="347472" y="3721608"/>
            <a:ext cx="8449056" cy="530352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7472" y="377647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Gourmet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2450592" y="377647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(atual)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4005072" y="37764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Vantagem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5376672" y="37764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Vantagem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748272" y="3776472"/>
            <a:ext cx="2048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dados — corrigindo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7472" y="4800600"/>
            <a:ext cx="8449056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48371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oportunidade: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está sem um líder digital. Quem estruturar tráfego pago + conteúdo de produto com apelo visual primeiro vai capturar a memória do consumidor antes da concorrência acordar.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Objetivo Estratégico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EM DUAS FASES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Construir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própria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clientes e reduzir dependência do iFood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4114800" cy="34747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14813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Meses 1–6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17007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888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21284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Capturar leads e alimentar o iFood com demanda própria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8346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Formulário nativo Meta Ads por loja (7 campanhas, raio 7km)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218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Mensagem automática pós-formulário → link iFood + convite grupo WA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6027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iFood como único canal de conversão na Fase 1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9867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como CRM de entrada — cardápio diário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43708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Meta: 150–250 leads/mês, CPL R$10–15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81728" y="1389888"/>
            <a:ext cx="4114800" cy="34747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28032" y="1481328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Meses 7–12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828032" y="170078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4828032" y="221284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Criar canal próprio e reduzir dependência do iFood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283464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Canal de pedidos próprio (site ou app leve)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4828032" y="321868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Reduzir dependência iFood de 80% → 60%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828032" y="36027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Search institucional + remarketing avançado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4828032" y="398678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Programa de fidelidade sobre a base de leads capturada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828032" y="43708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Escala: base de 1.000+ contatos próprios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Objetivo Estratégico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personas, uma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jornada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compra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743200" cy="34747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15179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André, 34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2286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comercial · Pituba, Salvador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" y="2523744"/>
            <a:ext cx="2468880" cy="18288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4632" y="25786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Executivo  ·  Delivery frequente  ·  Praticidade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" y="28346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comida de qualidade, rápida, sem sair do escritório ou home office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" y="34930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iFood 3–4x/semana. Decide pelo visual e avaliações. Ticket médio R$60–90.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73552" y="1389888"/>
            <a:ext cx="2743200" cy="34747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0712" y="15179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👩‍🍳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410712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Carla, 41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410712" y="2286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 de casa · Barra, Salvador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10712" y="2523744"/>
            <a:ext cx="2468880" cy="18288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10712" y="25786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Família  ·  Tradição baiana  ·  Reunião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3410712" y="28346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feijoada tradicional e farta para ocasiões em família, sem trabalho de cozinhar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410712" y="34930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em finais de semana. Alta fidelização se a experiência for boa. Ticket médio R$120–180.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99632" y="1389888"/>
            <a:ext cx="2743200" cy="34747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15179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336792" y="202996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Rafael, 28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22860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· Imbuí, Salvador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36792" y="2523744"/>
            <a:ext cx="2468880" cy="18288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336792" y="257860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 ·  Grupo  ·  Social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6336792" y="2834640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almoços em grupo — quer praticidade e um produto que "apareça bem"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336792" y="349300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pontual mas de alto volume. Influenciado por conteúdo visual. Ticket médio R$200+.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Motor de Vendas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CAMINHOS SIMULTÂNEOS — FASE 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formulário abre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jornadas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ao mesmo tempo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1463040" cy="237744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138988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→ iFood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7472" y="1682496"/>
            <a:ext cx="1828800" cy="9692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7190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" y="2231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 visual · raio 7km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203704" y="19019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04872" y="1682496"/>
            <a:ext cx="1828800" cy="9692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96312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2953512" y="17190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Nativo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496312" y="2231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Form · sem landing page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261104" y="19019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62272" y="1682496"/>
            <a:ext cx="1828800" cy="9692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53712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🛵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010912" y="17190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53712" y="2231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mais próxima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318504" y="19019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19672" y="1682496"/>
            <a:ext cx="1828800" cy="96926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11112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68312" y="171907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611112" y="22311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canal de conversão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" y="2834640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  em paralelo — junto com o link iFood, o lead recebe: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3127248"/>
            <a:ext cx="1463040" cy="237744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47472" y="312724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Própria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47472" y="3419856"/>
            <a:ext cx="1828800" cy="969264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38912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96112" y="34564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Msg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38912" y="3950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em segundos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2203704" y="3621024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404872" y="3419856"/>
            <a:ext cx="1828800" cy="969264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496312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2953512" y="34564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WA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2496312" y="3950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ao link iFood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261104" y="3621024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462272" y="3419856"/>
            <a:ext cx="1828800" cy="969264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553712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5010912" y="34564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4553712" y="3950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diário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6318504" y="3621024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19672" y="3419856"/>
            <a:ext cx="1828800" cy="969264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611112" y="3474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48" name="Text 46"/>
          <p:cNvSpPr txBox="1"/>
          <p:nvPr/>
        </p:nvSpPr>
        <p:spPr>
          <a:xfrm>
            <a:off x="7068312" y="345643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Própria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6611112" y="3950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proprietário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Motor de Vendas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DE CANAIS — FASE 1 VS. FASE 2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Canais ativos na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expansão planejada para Fase 2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844905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14081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Formulário Nativo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64592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leads por loja (7 campanhas, raio 7km)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046720" y="1499616"/>
            <a:ext cx="640080" cy="21945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0" y="149961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47472" y="1938528"/>
            <a:ext cx="844905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" y="19842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197510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Automática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221284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própria — disparo imediato pós-formulário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046720" y="2066544"/>
            <a:ext cx="640080" cy="21945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206654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7472" y="2505456"/>
            <a:ext cx="844905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" y="25511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🛵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2542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iFood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2779776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 canal de conversão (pedidos) na Fase 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46720" y="2633472"/>
            <a:ext cx="640080" cy="21945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0" y="2633472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47472" y="3072384"/>
            <a:ext cx="844905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" y="3118104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1089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WhatsApp (por loja)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33467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de entrada — cardápio diário + agente de conversão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0" y="3200400"/>
            <a:ext cx="640080" cy="21945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46720" y="320040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7472" y="3639312"/>
            <a:ext cx="8449056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75488" y="3685032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1005840" y="36758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@feijoadapremiumgourmet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1005840" y="391363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Construção de autoridade e conteúdo de produto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0" y="3767328"/>
            <a:ext cx="640080" cy="21945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0" y="37673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47472" y="4206240"/>
            <a:ext cx="8449056" cy="493776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75488" y="42519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424281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+ Canal Próprio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1005840" y="448056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ativa + pedidos sem comissão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46720" y="4334256"/>
            <a:ext cx="640080" cy="21945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046720" y="4334256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Estratégia de Mídia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— FASE 1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Meta Ads ·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Formulário Nativo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7 campanhas independentes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4114800" cy="150876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30352" y="15179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de campanha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0352" y="18470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Leads com Instant Form — formulário dentro do Meta, sem landing page, sem fricção de clique externo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72584" y="1389888"/>
            <a:ext cx="4114800" cy="150876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55464" y="151790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5422392" y="15179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geográfica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55464" y="1847088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aberto por raio de 7km por loja — 7 campanhas independentes, orçamento e otimização separados por unidade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017520"/>
            <a:ext cx="4114800" cy="150876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0352" y="31455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145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30352" y="34747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estática com criativo de produto e alto apelo visual — ensaio fotográfico a produzir (sem acervo atual)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72584" y="3017520"/>
            <a:ext cx="4114800" cy="150876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5464" y="314553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422392" y="3145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aprendizado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855464" y="34747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dias por campanha sem alteração de conjuntos — respeitar a janela do algoritmo antes de qualquer ajuste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" y="4681728"/>
            <a:ext cx="8449056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4718304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formulário nativo: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cliques = maior taxa de conversão. O lead preenche sem sair do Meta; a automação entrega o link iFood em segundos. Zero Google Search na Fase 1 — foco e dados primeiro.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Estratégia de Mídia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VERBA POR LOJA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R$2.500/mês divididos em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campanhas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por loja, por raio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844905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1389888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389888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DIÁRIA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2084832" y="1389888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MENSAL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3044952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R$15 → LEADS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507992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R$10 → LEADS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971032" y="138988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5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R$7 → LEADS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47472" y="1682496"/>
            <a:ext cx="8449056" cy="310896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" y="1700784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01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1700784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R$11,90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084832" y="1700784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R$357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044952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leads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507992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leads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971032" y="170078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leads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" y="2011680"/>
            <a:ext cx="844905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" y="2029968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02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2029968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R$11,90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84832" y="2029968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44952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leads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07992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leads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5971032" y="202996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leads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7472" y="2340864"/>
            <a:ext cx="8449056" cy="310896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7472" y="2359152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03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70432" y="2359152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R$11,90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084832" y="2359152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R$357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044952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leads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4507992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leads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5971032" y="235915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leads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7472" y="2670048"/>
            <a:ext cx="844905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7472" y="2688336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04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70432" y="2688336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R$11,90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084832" y="2688336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R$357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044952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leads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4507992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leads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5971032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leads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" y="2999232"/>
            <a:ext cx="8449056" cy="310896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47472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05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170432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R$11,90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084832" y="3017520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R$357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3044952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leads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4507992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leads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5971032" y="3017520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leads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47472" y="3328416"/>
            <a:ext cx="8449056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47472" y="3346704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06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1170432" y="3346704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R$11,90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2084832" y="3346704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R$357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3044952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leads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4507992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leads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5971032" y="3346704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leads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47472" y="3657600"/>
            <a:ext cx="8449056" cy="310896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47472" y="3675888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07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1170432" y="3675888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R$11,90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2084832" y="3675888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R$356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3044952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 leads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4507992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~36 leads</a:t>
            </a:r>
            <a:endParaRPr lang="en-US" sz="950" dirty="0"/>
          </a:p>
        </p:txBody>
      </p:sp>
      <p:sp>
        <p:nvSpPr>
          <p:cNvPr id="62" name="Text 60"/>
          <p:cNvSpPr txBox="1"/>
          <p:nvPr/>
        </p:nvSpPr>
        <p:spPr>
          <a:xfrm>
            <a:off x="5971032" y="3675888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~51 leads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47472" y="3986784"/>
            <a:ext cx="8449056" cy="310896"/>
          </a:xfrm>
          <a:prstGeom prst="rect">
            <a:avLst/>
          </a:prstGeom>
          <a:solidFill>
            <a:srgbClr val="F5EEDF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347472" y="4005072"/>
            <a:ext cx="822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1170432" y="4005072"/>
            <a:ext cx="9144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R$83,30/dia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2084832" y="4005072"/>
            <a:ext cx="9601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R$2.500/mês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3044952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~168 leads/mês</a:t>
            </a:r>
            <a:endParaRPr lang="en-US" sz="950" dirty="0"/>
          </a:p>
        </p:txBody>
      </p:sp>
      <p:sp>
        <p:nvSpPr>
          <p:cNvPr id="68" name="Text 66"/>
          <p:cNvSpPr txBox="1"/>
          <p:nvPr/>
        </p:nvSpPr>
        <p:spPr>
          <a:xfrm>
            <a:off x="4507992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~252 leads/mês</a:t>
            </a:r>
            <a:endParaRPr lang="en-US" sz="950" dirty="0"/>
          </a:p>
        </p:txBody>
      </p:sp>
      <p:sp>
        <p:nvSpPr>
          <p:cNvPr id="69" name="Text 67"/>
          <p:cNvSpPr txBox="1"/>
          <p:nvPr/>
        </p:nvSpPr>
        <p:spPr>
          <a:xfrm>
            <a:off x="5971032" y="400507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~357 leads/mês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47472" y="4425696"/>
            <a:ext cx="2651760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84632" y="44622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 POR CAMPANHA</a:t>
            </a:r>
            <a:endParaRPr lang="en-US" sz="750" dirty="0"/>
          </a:p>
        </p:txBody>
      </p:sp>
      <p:sp>
        <p:nvSpPr>
          <p:cNvPr id="72" name="Text 70"/>
          <p:cNvSpPr txBox="1"/>
          <p:nvPr/>
        </p:nvSpPr>
        <p:spPr>
          <a:xfrm>
            <a:off x="484632" y="4608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7km por loja</a:t>
            </a:r>
            <a:endParaRPr lang="en-US" sz="1150" dirty="0"/>
          </a:p>
        </p:txBody>
      </p:sp>
      <p:sp>
        <p:nvSpPr>
          <p:cNvPr id="73" name="Text 71"/>
          <p:cNvSpPr txBox="1"/>
          <p:nvPr/>
        </p:nvSpPr>
        <p:spPr>
          <a:xfrm>
            <a:off x="484632" y="4818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entrega iFood em Salvador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3200400" y="4425696"/>
            <a:ext cx="2651760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3337560" y="44622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DE APRENDIZADO</a:t>
            </a:r>
            <a:endParaRPr lang="en-US" sz="750" dirty="0"/>
          </a:p>
        </p:txBody>
      </p:sp>
      <p:sp>
        <p:nvSpPr>
          <p:cNvPr id="76" name="Text 74"/>
          <p:cNvSpPr txBox="1"/>
          <p:nvPr/>
        </p:nvSpPr>
        <p:spPr>
          <a:xfrm>
            <a:off x="3337560" y="4608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30–45 dias</a:t>
            </a:r>
            <a:endParaRPr lang="en-US" sz="1150" dirty="0"/>
          </a:p>
        </p:txBody>
      </p:sp>
      <p:sp>
        <p:nvSpPr>
          <p:cNvPr id="77" name="Text 75"/>
          <p:cNvSpPr txBox="1"/>
          <p:nvPr/>
        </p:nvSpPr>
        <p:spPr>
          <a:xfrm>
            <a:off x="3337560" y="4818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alterar conjuntos neste período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6053328" y="4425696"/>
            <a:ext cx="2651760" cy="658368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190488" y="446227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 ADESÃO GRUPO</a:t>
            </a:r>
            <a:endParaRPr lang="en-US" sz="750" dirty="0"/>
          </a:p>
        </p:txBody>
      </p:sp>
      <p:sp>
        <p:nvSpPr>
          <p:cNvPr id="80" name="Text 78"/>
          <p:cNvSpPr txBox="1"/>
          <p:nvPr/>
        </p:nvSpPr>
        <p:spPr>
          <a:xfrm>
            <a:off x="6190488" y="46085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&gt;25% dos leads</a:t>
            </a:r>
            <a:endParaRPr lang="en-US" sz="1150" dirty="0"/>
          </a:p>
        </p:txBody>
      </p:sp>
      <p:sp>
        <p:nvSpPr>
          <p:cNvPr id="81" name="Text 79"/>
          <p:cNvSpPr txBox="1"/>
          <p:nvPr/>
        </p:nvSpPr>
        <p:spPr>
          <a:xfrm>
            <a:off x="6190488" y="48188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 qualidade da base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Quatro Pilares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EXECUÇÃO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pilares que sustentam o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crescimento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previsível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011680" cy="292608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Captação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4632" y="2404872"/>
            <a:ext cx="365760" cy="3657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" y="2487168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com formulário nativo. 7 campanhas geolocalizadas. Criativo de produto com apelo visual. Público aberto, raio 7km.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05456" y="1389888"/>
            <a:ext cx="2011680" cy="292608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42616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642616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642616" y="2404872"/>
            <a:ext cx="365760" cy="3657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642616" y="2487168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com frequência definida, Linktree por loja, ensaio fotográfico profissional. Consistência visual como diferencial.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1389888"/>
            <a:ext cx="2011680" cy="292608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00600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CRM &amp; Retenção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00600" y="2404872"/>
            <a:ext cx="365760" cy="3657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2487168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WhatsApp por loja, cardápio diário, agente de conversão individual. Base própria que cresce a cada semana.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21424" y="1389888"/>
            <a:ext cx="2011680" cy="292608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58584" y="1536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958584" y="2084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&amp; Otimização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958584" y="2404872"/>
            <a:ext cx="365760" cy="36576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958584" y="2487168"/>
            <a:ext cx="1737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instalado, CPL por campanha, taxa de adesão ao grupo, conversão grupo→pedido. Decisões baseadas em número.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" y="4462272"/>
            <a:ext cx="8449056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" y="44988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V4: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sem retenção é desperdício. Os quatro pilares funcionam em conjunto — cada lead capturado alimenta o CRM, que gera dados para otimizar a captação.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CRM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DEPOIS QUE O CLIENTE PREENCHE O FORMULÁRIO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 vai pro iFood comprar — e entra no grupo da </a:t>
            </a:r>
            <a:pPr indent="0" marL="0">
              <a:buNone/>
            </a:pPr>
            <a:r>
              <a:rPr lang="en-US" sz="2600" i="1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loja mais próxima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1965960" cy="1417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HORA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212140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boas-vindas confirmando o cadastro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193852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23744" y="1389888"/>
            <a:ext cx="1965960" cy="1417320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60904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🍲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660904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+2H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660904" y="212140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do dia + link iFood da loja mais próxima + convite pro grupo WA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07992" y="193852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00016" y="1389888"/>
            <a:ext cx="1965960" cy="1417320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37176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+24H A +72H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4837176" y="212140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lembretes com oferta especial de boas-vindas, se ainda não comprou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684264" y="193852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76288" y="1389888"/>
            <a:ext cx="1965960" cy="1417320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013448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7013448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PRÓPRIA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7013448" y="212140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 do grupo da loja — recebe cardápio todo dia, sem pagar mais por isso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2944368"/>
            <a:ext cx="2651760" cy="153619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30358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grupos regionais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12064" y="3310128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grupo por loja. Cada cliente entra no grupo da unidade mais próxima — conteúdo local e relevante.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2944368"/>
            <a:ext cx="2651760" cy="153619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364992" y="30358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fixo de conteúdo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3364992" y="3310128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diário, prévia do combo de fim de semana toda quinta, chamada de sexta e ofertas em datas especiais.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53328" y="2944368"/>
            <a:ext cx="2651760" cy="153619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17920" y="303580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Recompra sem custo extra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3310128"/>
            <a:ext cx="23408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está no grupo vê o cardápio todo dia. Não precisa de novo anúncio para comprar de novo.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CRM · Fase 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4 — BASE HISTÓRICA ENTRA EM CENA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5.000 contatos que já conhecem a marca —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ainda não estão sendo ativados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4114800" cy="1463040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4813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TEMOS HOJE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168249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~5.220 contatos dormentes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1965960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~5.000 da base histórica + 220 membros do grupo VIP atual. Pessoas que já compraram e conhecem a Premium Gourmet — só precisam de um convite de volta.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47472" y="2926080"/>
            <a:ext cx="8449056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6265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esperar o Mês 4?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captação via Meta precisa estar validada primeiro — CPL, taxa de adesão, conversão funcionando. Aí sim migramos parte do orçamento para reativar a base histórica.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4681728" y="13898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REATIVAR — 3 MENSAGENS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81728" y="1664208"/>
            <a:ext cx="310896" cy="31089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81728" y="16642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1664208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—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calorosa relembrando a marca + convite para o grupo da loja mais próxima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81728" y="2322576"/>
            <a:ext cx="310896" cy="31089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81728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2322576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—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 especial de boas-vindas com desconto para a primeira compra do retorno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81728" y="2980944"/>
            <a:ext cx="310896" cy="310896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681728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2980944"/>
            <a:ext cx="3721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sazonal —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"fim de semana é dia de feijoada" — chamada leve, sem pressão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81728" y="3657600"/>
            <a:ext cx="4114800" cy="7315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28032" y="3730752"/>
            <a:ext cx="3794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responde ou compra sai do fluxo automaticamente. Base fria pede abordagem leve — o objetivo é trazer de volta para o grupo, não forçar a compra na primeira mensagem.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CRM · Projeção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BASE PRÓPRIA GERA — EM PEDIDOS E FATURAMENTO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Mês 6, a base própria gera entre </a:t>
            </a:r>
            <a:pPr indent="0" marL="0">
              <a:buNone/>
            </a:pPr>
            <a:r>
              <a:rPr lang="en-US" sz="2600" i="1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R$7.000 e R$11.000/mês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sem pagar novo anúncio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697480" cy="2633472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12064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NOVA — LEADS META ADS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1682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~260 membros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12064" y="2139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fim do Mês 6 nos grupos das lojas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2064" y="2542032"/>
            <a:ext cx="2377440" cy="18288"/>
          </a:xfrm>
          <a:prstGeom prst="rect">
            <a:avLst/>
          </a:prstGeom>
          <a:solidFill>
            <a:srgbClr val="EDEB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2064" y="25968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 pedidos/mês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12064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~R$3.900/mês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227832" y="1389888"/>
            <a:ext cx="2697480" cy="2633472"/>
          </a:xfrm>
          <a:prstGeom prst="rect">
            <a:avLst/>
          </a:prstGeom>
          <a:solidFill>
            <a:srgbClr val="F5EEDF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HISTÓRICA — REATIVAÇÃO FASE 2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1682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~520 membros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383280" y="2139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5.220 contatos dormentes reativados para os grupos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2542032"/>
            <a:ext cx="2377440" cy="18288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83280" y="25968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 pedidos/mês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~R$7.125/mês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08192" y="1389888"/>
            <a:ext cx="2688336" cy="263347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72784" y="148132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6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COMBINADO — MÊS 6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6272784" y="168249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~780 membros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272784" y="21396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base própria — contato direto da Premium Gourmet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72784" y="2542032"/>
            <a:ext cx="2377440" cy="18288"/>
          </a:xfrm>
          <a:prstGeom prst="rect">
            <a:avLst/>
          </a:prstGeom>
          <a:solidFill>
            <a:srgbClr val="55525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72784" y="25968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~117 pedidos/mês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272784" y="2834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~R$11.000/mês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47472" y="4169664"/>
            <a:ext cx="8449056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principal: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pedidos saem de uma base que já foi conquistada — sem pagar Meta Ads novamente. Cada membro que fica no grupo é um cliente com custo de recompra R$0. A Fase 1 constrói o ativo; a Fase 2 faz ele trabalhar.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KPIs · Fase 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SUCESSO — MESES 1 A 6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medir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para saber se está funcionando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011680" cy="137160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META ADS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R$10–15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lead — meta de eficiência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05456" y="1389888"/>
            <a:ext cx="2011680" cy="137160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42616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MÊS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642616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170–252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2642616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7 campanhas combinadas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2011680" cy="137160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00600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ADESÃO AO GRUPO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leads que entram no grupo WA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1424" y="1389888"/>
            <a:ext cx="2011680" cy="137160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58584" y="1481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GRUPO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958584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+15%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958584" y="2148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do grupo que faz pedido no mês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CTR do anúncio: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 ≥1,5% — indica qualidade do criativo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347472" y="33284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Taxa de preenchimento do formulário: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≥60% dos cliques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347472" y="373075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 de resposta da automação: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≤60 segundos após formulário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" y="41330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Crescimento da base de grupos: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+20% ao mês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754880" y="2926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 por pedido gerado: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calculado mês a mês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754880" y="332841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Taxa de recompra dos membros do grupo: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≥30% compram 2x ou mais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KPIs · Projeções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— FASE 1 (6 MESES)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de base própria mês a mês —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8449056" cy="27432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1389888"/>
            <a:ext cx="6400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987552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ACUMULADOS</a:t>
            </a:r>
            <a:endParaRPr lang="en-US" sz="700" dirty="0"/>
          </a:p>
        </p:txBody>
      </p:sp>
      <p:sp>
        <p:nvSpPr>
          <p:cNvPr id="10" name="Text 8"/>
          <p:cNvSpPr txBox="1"/>
          <p:nvPr/>
        </p:nvSpPr>
        <p:spPr>
          <a:xfrm>
            <a:off x="2404872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MEMBROS GRUPO WA</a:t>
            </a:r>
            <a:endParaRPr lang="en-US" sz="7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EST./MÊS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5239512" y="1389888"/>
            <a:ext cx="1097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6336792" y="1389888"/>
            <a:ext cx="15544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700" spc="50" kern="0" dirty="0">
                <a:solidFill>
                  <a:srgbClr val="C8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GERADA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47472" y="1682496"/>
            <a:ext cx="8449056" cy="384048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7472" y="1719072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" y="1719072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404872" y="1719072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1719072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1719072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36792" y="1719072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~R$810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2084832"/>
            <a:ext cx="8449056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47472" y="2121408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2121408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404872" y="2121408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~117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822192" y="2121408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239512" y="2121408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R$90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2121408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~R$1.620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" y="2487168"/>
            <a:ext cx="8449056" cy="384048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7472" y="2523744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2523744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~756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2404872" y="2523744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~163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822192" y="2523744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239512" y="2523744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36792" y="2523744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~R$2.160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" y="2889504"/>
            <a:ext cx="8449056" cy="3840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47472" y="2926080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4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87552" y="2926080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~1.008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2404872" y="2926080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822192" y="2926080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5239512" y="2926080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R$95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336792" y="2926080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~R$2.850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47472" y="3291840"/>
            <a:ext cx="8449056" cy="384048"/>
          </a:xfrm>
          <a:prstGeom prst="rect">
            <a:avLst/>
          </a:prstGeom>
          <a:solidFill>
            <a:srgbClr val="F8F6F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47472" y="3328416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87552" y="3328416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~1.260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2404872" y="3328416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~234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3822192" y="3328416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5239512" y="3328416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R$95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336792" y="3328416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~R$3.325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47472" y="3694176"/>
            <a:ext cx="8449056" cy="384048"/>
          </a:xfrm>
          <a:prstGeom prst="rect">
            <a:avLst/>
          </a:prstGeom>
          <a:solidFill>
            <a:srgbClr val="F5EED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347472" y="3730752"/>
            <a:ext cx="6400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987552" y="3730752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~1.512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2404872" y="3730752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~262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3822192" y="3730752"/>
            <a:ext cx="141732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5239512" y="3730752"/>
            <a:ext cx="10972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R$100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336792" y="3730752"/>
            <a:ext cx="155448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~R$3.900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47472" y="4279392"/>
            <a:ext cx="8449056" cy="658368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importante: </a:t>
            </a:r>
            <a:pPr indent="0" marL="0">
              <a:buNone/>
            </a:pPr>
            <a:r>
              <a:rPr lang="en-US" sz="10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 (CPL R$10, adesão 25%, conversão 15%). Meses 1–2 em fase de aprendizado — crescimento a partir do Mês 3. O valor principal não é a receita direta, mas a base de 1.500+ contatos próprios ao fim da Fase 1.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Investimento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 DE MÍDIA — FASE 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R$2.500/mês em </a:t>
            </a:r>
            <a:pPr indent="0" marL="0">
              <a:buNone/>
            </a:pPr>
            <a:r>
              <a:rPr lang="en-US" sz="2600" i="1" dirty="0">
                <a:solidFill>
                  <a:srgbClr val="B88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mídia paga</a:t>
            </a:r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o único investimento desta fase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1353312"/>
            <a:ext cx="8449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campanhas independentes  ·  ~R$357 por loja/mês  ·  raio 7km por unidade  ·  orçamento e otimização separados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7472" y="1737360"/>
            <a:ext cx="2651760" cy="3017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186537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CONSERVADOR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08483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168 leads/mês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63347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R$15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077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 membros grupo no Mês 6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737360"/>
            <a:ext cx="2651760" cy="3017520"/>
          </a:xfrm>
          <a:prstGeom prst="rect">
            <a:avLst/>
          </a:prstGeom>
          <a:solidFill>
            <a:srgbClr val="1A1A1A"/>
          </a:solidFill>
          <a:ln w="12700">
            <a:solidFill>
              <a:srgbClr val="B886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01568" y="186537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B88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3401568" y="208483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252 leads/mês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3401568" y="263347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R$10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29077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~262 membros grupo no Mês 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53328" y="1737360"/>
            <a:ext cx="2651760" cy="30175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54496" y="1865376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OTIMISTA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084832"/>
            <a:ext cx="22494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357 leads/mês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6254496" y="2633472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R$7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254496" y="2907792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~370+ membros grupo no Mês 6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47472" y="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C4B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Gourmet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943600" y="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8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Cronograma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47548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20" kern="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— SEMANA A SEMANA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676656"/>
            <a:ext cx="8449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zero ao ar em </a:t>
            </a:r>
            <a:pPr indent="0" marL="0">
              <a:buNone/>
            </a:pPr>
            <a:r>
              <a:rPr lang="en-US" sz="2600" i="1" dirty="0">
                <a:solidFill>
                  <a:srgbClr val="C41E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semanas</a:t>
            </a:r>
            <a:pPr indent="0" marL="0">
              <a:buNone/>
            </a:pPr>
            <a:r>
              <a:rPr lang="en-US" sz="2600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otimizando a partir da 5ª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2011680" cy="34747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89888"/>
            <a:ext cx="2011680" cy="457200"/>
          </a:xfrm>
          <a:prstGeom prst="rect">
            <a:avLst/>
          </a:prstGeom>
          <a:solidFill>
            <a:srgbClr val="C41E1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84632" y="1408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1–2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84632" y="2066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15 – Set 30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84632" y="2331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Instalar pixel Meta em todas as lojas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84632" y="26609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e configurar contas Meta Ads por loja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84632" y="2990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Contratar e configurar ferramenta de automação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" y="33192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Ensaio fotográfico — criativos de produto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84632" y="3648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formulários nativos por campanha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Ajustar Instagram + criar Linktree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84632" y="430682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Criar grupos WhatsApp (7 grupos)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505456" y="1389888"/>
            <a:ext cx="2011680" cy="34747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05456" y="1389888"/>
            <a:ext cx="201168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642616" y="1408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Lançar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2642616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3–4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2642616" y="2066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1 – Out 18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642616" y="2331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Subir 7 campanhas simultâneas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642616" y="26609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Ativar fluxo automático pós-formulário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2642616" y="2990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Primeiro conteúdo de cardápio nos grupos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2642616" y="33192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Acompanhar fase de aprendizado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2642616" y="3648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Monitorar CPL inicial e adesão ao grupo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2642616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Ajuste fino de segmentação geográfica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389888"/>
            <a:ext cx="2011680" cy="34747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389888"/>
            <a:ext cx="201168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00600" y="1408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Otimizar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5–7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2066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19 – Nov 9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4800600" y="2331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Análise CPL por loja — pausar o que não performa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4800600" y="26609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Rotação de criativos com melhor CTR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800600" y="2990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Análise taxa de adesão ao grupo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33192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Medir conversão grupo → pedido iFood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800600" y="3648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Relatório de 30 dias para o cliente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800600" y="39776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Ajuste de verba entre lojas performáticas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821424" y="1389888"/>
            <a:ext cx="2011680" cy="3474720"/>
          </a:xfrm>
          <a:prstGeom prst="rect">
            <a:avLst/>
          </a:prstGeom>
          <a:solidFill>
            <a:srgbClr val="F8F6F4"/>
          </a:solidFill>
          <a:ln w="12700">
            <a:solidFill>
              <a:srgbClr val="EDEB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21424" y="1389888"/>
            <a:ext cx="2011680" cy="457200"/>
          </a:xfrm>
          <a:prstGeom prst="rect">
            <a:avLst/>
          </a:prstGeom>
          <a:solidFill>
            <a:srgbClr val="B8862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958584" y="14081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Escalar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6958584" y="1883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8+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6958584" y="20665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10 em diante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6958584" y="23317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Aumentar budget nas lojas com CPL validado</a:t>
            </a:r>
            <a:endParaRPr lang="en-US" sz="850" dirty="0"/>
          </a:p>
        </p:txBody>
      </p:sp>
      <p:sp>
        <p:nvSpPr>
          <p:cNvPr id="47" name="Text 45"/>
          <p:cNvSpPr txBox="1"/>
          <p:nvPr/>
        </p:nvSpPr>
        <p:spPr>
          <a:xfrm>
            <a:off x="6958584" y="2660904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Planejamento da Fase 2 (canal próprio)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6958584" y="29900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Estratégia Q4 — eventos e datas sazonais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958584" y="3319272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Ampliar base de grupos e conteúdo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6958584" y="3648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55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Primeiro diagnóstico de LTV da base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2026-09-14T17:47:23Z</dcterms:created>
  <dcterms:modified xsi:type="dcterms:W3CDTF">2026-09-14T17:47:23Z</dcterms:modified>
</cp:coreProperties>
</file>